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1" r:id="rId2"/>
    <p:sldId id="264" r:id="rId3"/>
    <p:sldId id="256" r:id="rId4"/>
    <p:sldId id="263" r:id="rId5"/>
    <p:sldId id="257" r:id="rId6"/>
    <p:sldId id="269" r:id="rId7"/>
    <p:sldId id="262" r:id="rId8"/>
    <p:sldId id="270" r:id="rId9"/>
    <p:sldId id="271" r:id="rId10"/>
    <p:sldId id="267" r:id="rId11"/>
    <p:sldId id="272" r:id="rId12"/>
    <p:sldId id="268" r:id="rId13"/>
    <p:sldId id="273" r:id="rId14"/>
    <p:sldId id="274" r:id="rId15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F3BFA-B0B4-B94F-BEA2-81D0CA5CFE9E}" v="1" dt="2025-10-28T03:09:24.7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/>
    <p:restoredTop sz="94704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文瑞 蘇" userId="a7477ee5a476fdd6" providerId="LiveId" clId="{E4BF0672-E5F6-5D06-887A-F80374BABA40}"/>
    <pc:docChg chg="custSel addSld modSld">
      <pc:chgData name="文瑞 蘇" userId="a7477ee5a476fdd6" providerId="LiveId" clId="{E4BF0672-E5F6-5D06-887A-F80374BABA40}" dt="2025-10-28T05:15:13.060" v="140" actId="113"/>
      <pc:docMkLst>
        <pc:docMk/>
      </pc:docMkLst>
      <pc:sldChg chg="modSp">
        <pc:chgData name="文瑞 蘇" userId="a7477ee5a476fdd6" providerId="LiveId" clId="{E4BF0672-E5F6-5D06-887A-F80374BABA40}" dt="2025-10-28T03:09:24.782" v="0" actId="2711"/>
        <pc:sldMkLst>
          <pc:docMk/>
          <pc:sldMk cId="1876101670" sldId="269"/>
        </pc:sldMkLst>
        <pc:spChg chg="mod">
          <ac:chgData name="文瑞 蘇" userId="a7477ee5a476fdd6" providerId="LiveId" clId="{E4BF0672-E5F6-5D06-887A-F80374BABA40}" dt="2025-10-28T03:09:24.782" v="0" actId="2711"/>
          <ac:spMkLst>
            <pc:docMk/>
            <pc:sldMk cId="1876101670" sldId="269"/>
            <ac:spMk id="3" creationId="{BD975D6A-2D70-ABF0-C60B-9FF9A9874337}"/>
          </ac:spMkLst>
        </pc:spChg>
      </pc:sldChg>
      <pc:sldChg chg="modSp new mod">
        <pc:chgData name="文瑞 蘇" userId="a7477ee5a476fdd6" providerId="LiveId" clId="{E4BF0672-E5F6-5D06-887A-F80374BABA40}" dt="2025-10-28T05:15:13.060" v="140" actId="113"/>
        <pc:sldMkLst>
          <pc:docMk/>
          <pc:sldMk cId="3266912218" sldId="274"/>
        </pc:sldMkLst>
        <pc:spChg chg="mod">
          <ac:chgData name="文瑞 蘇" userId="a7477ee5a476fdd6" providerId="LiveId" clId="{E4BF0672-E5F6-5D06-887A-F80374BABA40}" dt="2025-10-28T05:15:13.060" v="140" actId="113"/>
          <ac:spMkLst>
            <pc:docMk/>
            <pc:sldMk cId="3266912218" sldId="274"/>
            <ac:spMk id="3" creationId="{77ED5A7D-8D05-B786-660C-2BAD58573D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285E1D4-4A5F-0140-97A3-B593285F11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608ADDD-C2A1-E244-A9E0-9B6043EE18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23ADE9D-1531-DA41-BA7F-D7519A369907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0438D2-44DD-C840-964E-31CB8541CE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F00D83-29A1-EF40-8B36-C34BC7ADA8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anose="020F0502020204030204" pitchFamily="34" charset="0"/>
              </a:defRPr>
            </a:lvl1pPr>
          </a:lstStyle>
          <a:p>
            <a:fld id="{F30BBA86-0C23-0E44-A0F5-7EB70DEB7A1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961A4E-CF43-F74F-AE3B-8A61CDE598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57820A-ADE6-D444-A24F-96FC77C99F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D4B92D0-5924-8242-92C0-28ABF76C73DA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6DA0DE2A-1193-C945-8A04-6CF227C48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E59C4276-006A-5849-85D5-FDC694D4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6C94CC-76CF-7342-A298-7EBE50CAC4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EC0987-759E-4A42-B1F7-812F2209F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anose="020F0502020204030204" pitchFamily="34" charset="0"/>
              </a:defRPr>
            </a:lvl1pPr>
          </a:lstStyle>
          <a:p>
            <a:fld id="{F3B37FDD-39AD-E842-895D-8BD88CB9EF88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2557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37FDD-39AD-E842-895D-8BD88CB9EF88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266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圖像版面配置區 1">
            <a:extLst>
              <a:ext uri="{FF2B5EF4-FFF2-40B4-BE49-F238E27FC236}">
                <a16:creationId xmlns:a16="http://schemas.microsoft.com/office/drawing/2014/main" id="{21209E30-ECA3-2A47-B5BC-1CE5D82BB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備忘稿版面配置區 2">
            <a:extLst>
              <a:ext uri="{FF2B5EF4-FFF2-40B4-BE49-F238E27FC236}">
                <a16:creationId xmlns:a16="http://schemas.microsoft.com/office/drawing/2014/main" id="{0A3AA02A-CFA7-2B42-B19C-5914DAB0A5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4100" name="投影片編號版面配置區 3">
            <a:extLst>
              <a:ext uri="{FF2B5EF4-FFF2-40B4-BE49-F238E27FC236}">
                <a16:creationId xmlns:a16="http://schemas.microsoft.com/office/drawing/2014/main" id="{43825460-67E2-EB4C-9D9B-D8922AAE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4A66DEA-3487-1D42-B351-18017CCB0D7C}" type="slidenum">
              <a:rPr lang="zh-TW" altLang="en-US"/>
              <a:pPr eaLnBrk="1" hangingPunct="1">
                <a:spcBef>
                  <a:spcPct val="0"/>
                </a:spcBef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3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355883-BA3B-3349-9137-0310EDB2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6EA24-407D-E141-B9FD-39DFF26D6000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30A0AD-38B4-9544-98A9-A3CE7654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C662BC-94A5-6147-BB27-25B9B19A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F704B-A9CE-F94C-8355-88A2E186B04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78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4DA51-3EA7-AA47-B5BC-FECC4046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C5B68-457C-AC4F-8A65-50D40082C84A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4AFE48-E69C-F044-8F72-9C34D099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C5EDC0-B9DB-A542-B27C-79532F04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0761-B92C-B94C-98CA-7359FF45934C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4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A55C6E-0EDA-8240-843D-8480BA23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F5C84-069B-634F-9144-0C14F03B5387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DF351E-7FFA-C646-A44C-832C73BC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0B4881-AE60-184D-81A5-7F44E592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68BB8-2904-5F45-A347-CF436365DAC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07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6C16D07C-C7A2-9848-9BA1-2EA50DA9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F50AA-9A07-644D-971A-3DD335652B5B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4E5C0537-02C9-4046-B3DE-46BA1B9B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599806A4-DBA3-2648-A76C-7961F9AA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F9D3E-1DB6-A84D-9BCD-E76272EA264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41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18D18B1C-2305-6747-A89C-DC67CBE0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6838D-9080-8342-9B56-3C70F7133BDD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61C1A47F-4FC8-1248-86C0-00105561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1D83047-7C3B-3746-BCE1-6776D4EA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6093D4-B69C-2A4B-8D33-D26F3930706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54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>
            <a:extLst>
              <a:ext uri="{FF2B5EF4-FFF2-40B4-BE49-F238E27FC236}">
                <a16:creationId xmlns:a16="http://schemas.microsoft.com/office/drawing/2014/main" id="{9A25798C-D718-A448-8B5D-76073AD3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22E10-5CD5-4349-BDAB-F476FA138F65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AD07410F-2CF4-0347-A0FC-BFA8281B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A5E814A2-3138-9E49-A38C-B3983E7A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D3AD6-7A20-EE4B-8A33-8065627376B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78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>
            <a:extLst>
              <a:ext uri="{FF2B5EF4-FFF2-40B4-BE49-F238E27FC236}">
                <a16:creationId xmlns:a16="http://schemas.microsoft.com/office/drawing/2014/main" id="{A789645D-CDEB-BF48-897A-D58B4C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417D2-9439-1242-AE14-92A959BB4FD5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C3627DCF-A78B-AD4E-BF36-2ADF1C2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79E32BE6-1553-6E46-84C7-CB1C59B1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9025A-B00B-304E-8777-7963B392DA7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96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E41ED07C-6306-AB40-AAC7-E7EF0224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E0CFD-1985-3343-B6E7-A243D2F6D403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1C0F2309-7E87-F54E-B30D-1BDC0B86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3264FBE-119D-C74B-BF58-9E599C91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608E86-9B21-B14E-B511-C1A998289F2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05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A8BFE6C2-2387-F548-B869-6005EB04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9ADF1-FC1B-9D4F-A7FB-CD4D629A42F1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0C365B7-7874-E94B-904C-EF28BBEE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610C06A9-28DD-D34A-A629-ECF1ADC0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9BB3ED-D442-8048-8E0F-98774278B58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44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546E01-30B8-9E41-9CD3-FEF9ED8FF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CF5B3-F304-9A46-99F8-A37EAC211215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51048F-E41A-9147-A7A1-1DB1FB3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CF91D3-548F-AC41-AB00-03A88AAA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AEADB-7DCC-F34B-AD52-A0C1BEB312F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96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B36961-A7FC-F344-9A65-FCAA3D65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7259F-CB23-604F-91B5-00CFF5D3D0D9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19A023-92E8-C645-9D93-3ACE65B6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5D2FC1-D970-7B47-83D2-EFA599C0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0D977-6CD1-C441-B416-9964BBF6750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8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>
            <a:extLst>
              <a:ext uri="{FF2B5EF4-FFF2-40B4-BE49-F238E27FC236}">
                <a16:creationId xmlns:a16="http://schemas.microsoft.com/office/drawing/2014/main" id="{408A7266-6323-1A42-BE51-5161083767B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>
            <a:extLst>
              <a:ext uri="{FF2B5EF4-FFF2-40B4-BE49-F238E27FC236}">
                <a16:creationId xmlns:a16="http://schemas.microsoft.com/office/drawing/2014/main" id="{4FB31673-1670-484C-8CFA-41D2701194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C64B1C-9E44-F944-9476-33539B974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72DE893-4831-F649-BA43-AFC5DB9C64EF}" type="datetimeFigureOut">
              <a:rPr lang="zh-TW" altLang="en-US"/>
              <a:pPr>
                <a:defRPr/>
              </a:pPr>
              <a:t>2025/10/30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A6EE72-3863-6844-A56D-954631629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4697E3-E63A-5043-8818-4D80D23D3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CD06F68-0A0A-2D46-AB5B-AB9EC0A7AFFE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70F0F-3062-0940-80D0-31867EF9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Attention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4DF37-D352-BB40-B4AB-E0E98B11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660" y="1166019"/>
            <a:ext cx="8652680" cy="4525963"/>
          </a:xfrm>
        </p:spPr>
        <p:txBody>
          <a:bodyPr/>
          <a:lstStyle/>
          <a:p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答題內容請包含下列</a:t>
            </a:r>
            <a:endParaRPr kumimoji="1"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lvl="1" indent="0">
              <a:buNone/>
            </a:pP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Please include the following content in your answer</a:t>
            </a:r>
          </a:p>
          <a:p>
            <a:pPr marL="914400" lvl="1" indent="-514350">
              <a:buFont typeface="+mj-lt"/>
              <a:buAutoNum type="arabicPeriod"/>
            </a:pP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簡要操作流程（不必截圖，但須說明使用了那些工具）</a:t>
            </a:r>
            <a:endParaRPr kumimoji="1"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Brief operating procedure (no need for screenshots, but please explain which tools are used)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答題可上網查詢包含引用</a:t>
            </a:r>
            <a:r>
              <a:rPr kumimoji="1" lang="en-US" altLang="zh-TW" sz="1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ChatGPT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，但必須註明引用來源，包涵</a:t>
            </a:r>
            <a:r>
              <a:rPr kumimoji="1" lang="en-US" altLang="zh-TW" sz="1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ChatGPT</a:t>
            </a:r>
            <a:endParaRPr kumimoji="1"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 can use the internet and </a:t>
            </a:r>
            <a:r>
              <a:rPr kumimoji="1"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ChatGPT</a:t>
            </a: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but cite your sources and don't discuss with others.</a:t>
            </a:r>
          </a:p>
          <a:p>
            <a:pPr marL="914400" lvl="1" indent="-514350">
              <a:buFont typeface="+mj-lt"/>
              <a:buAutoNum type="arabicPeriod"/>
            </a:pP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計算結果</a:t>
            </a: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Final Export </a:t>
            </a:r>
          </a:p>
          <a:p>
            <a:pPr marL="1314450" lvl="2" indent="-514350">
              <a:buFont typeface="+mj-lt"/>
              <a:buAutoNum type="arabicParenR"/>
            </a:pP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出圖內容請包含圖例</a:t>
            </a:r>
            <a:endParaRPr kumimoji="1"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257300" lvl="3" indent="0">
              <a:buNone/>
            </a:pP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Please include a legend in the map</a:t>
            </a:r>
          </a:p>
          <a:p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若題目要求進行 標準化（</a:t>
            </a:r>
            <a:r>
              <a:rPr kumimoji="1" lang="en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Normalization</a:t>
            </a:r>
            <a:r>
              <a:rPr kumimoji="1" lang="zh-TW" altLang="en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r>
              <a:rPr kumimoji="1" lang="en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 分級（</a:t>
            </a:r>
            <a:r>
              <a:rPr kumimoji="1" lang="en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Classification</a:t>
            </a:r>
            <a:r>
              <a:rPr kumimoji="1" lang="zh-TW" altLang="en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）：</a:t>
            </a:r>
            <a:endParaRPr kumimoji="1"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00050" lvl="1" indent="0">
              <a:buNone/>
            </a:pPr>
            <a:r>
              <a:rPr kumimoji="1"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For tasks requiring Normalization or Classification:</a:t>
            </a:r>
            <a:endParaRPr lang="zh-TW" altLang="en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請採用 </a:t>
            </a:r>
            <a:r>
              <a:rPr lang="zh-TW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等距分級（</a:t>
            </a:r>
            <a:r>
              <a:rPr lang="en" altLang="zh-TW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Equal Interval</a:t>
            </a:r>
            <a:r>
              <a:rPr lang="zh-TW" altLang="en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r>
              <a:rPr lang="en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除非題目另有註明。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57250" lvl="2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Use the </a:t>
            </a:r>
            <a:r>
              <a:rPr lang="en" altLang="zh-TW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Equal Interval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method unless otherwise stated.</a:t>
            </a:r>
            <a:endParaRPr lang="zh-TW" alt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標準化值請設定介於 </a:t>
            </a:r>
            <a:r>
              <a:rPr lang="en-US" altLang="zh-TW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0–1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之間。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57250" lvl="2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Normalized values should range from </a:t>
            </a:r>
            <a:r>
              <a:rPr lang="en" altLang="zh-TW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 to 1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endParaRPr kumimoji="1"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所有結果請輸出成一個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PDF</a:t>
            </a:r>
          </a:p>
          <a:p>
            <a:pPr marL="400050" lvl="1" indent="0">
              <a:buNone/>
            </a:pP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Please upload all results as a PDF</a:t>
            </a:r>
          </a:p>
          <a:p>
            <a:pPr marL="514350" indent="-514350">
              <a:buFont typeface="+mj-lt"/>
              <a:buAutoNum type="arabicPeriod"/>
            </a:pPr>
            <a:endParaRPr kumimoji="1"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935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7EDBB9F-EBC5-9BDF-8019-783AEDB5A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537859"/>
            <a:ext cx="7772400" cy="1470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花蓮地區多重災害風險分析</a:t>
            </a:r>
            <a:br>
              <a:rPr lang="zh-TW" altLang="en-US" sz="3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" altLang="zh-TW" sz="3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Multi-Risk Analysis in Hualien Area</a:t>
            </a:r>
            <a:br>
              <a:rPr lang="en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289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3">
            <a:extLst>
              <a:ext uri="{FF2B5EF4-FFF2-40B4-BE49-F238E27FC236}">
                <a16:creationId xmlns:a16="http://schemas.microsoft.com/office/drawing/2014/main" id="{93E8A983-621B-5749-8DB1-47F8370A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" altLang="zh-TW" b="1" dirty="0"/>
              <a:t>Data Sets: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720F371-5BA1-EE40-A1EA-6844C8103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1417639"/>
            <a:ext cx="8562109" cy="4525963"/>
          </a:xfrm>
        </p:spPr>
        <p:txBody>
          <a:bodyPr>
            <a:noAutofit/>
          </a:bodyPr>
          <a:lstStyle/>
          <a:p>
            <a:pPr marL="57150" indent="0" eaLnBrk="1" hangingPunct="1">
              <a:buNone/>
            </a:pP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花蓮地區的天然災害包含淹水、地震以及坡地災害，其中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 eaLnBrk="1" hangingPunct="1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淹水災害影響因子包含 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2" eaLnBrk="1" hangingPunct="1"/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淹水潛勢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(Flooding_24h650)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，風險判斷欄位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:GRIDCODE</a:t>
            </a:r>
          </a:p>
          <a:p>
            <a:pPr lvl="1" eaLnBrk="1" hangingPunct="1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地震災害影響因子包含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2" eaLnBrk="1" hangingPunct="1"/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土壤液化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-US" altLang="zh-TW" sz="1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Lique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fration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):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，風險判斷欄位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:classify</a:t>
            </a:r>
          </a:p>
          <a:p>
            <a:pPr lvl="2" eaLnBrk="1" hangingPunct="1"/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斷層帶（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fault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需自行環域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100,300,500m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分別代表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</a:t>
            </a:r>
            <a:endParaRPr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 eaLnBrk="1" hangingPunct="1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坡地災害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Slope_Risk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layer)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影響因子包含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2" eaLnBrk="1" hangingPunct="1"/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土石流災害潛勢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(debris):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風險判斷欄位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:Risk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持續觀察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:1,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:2,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:3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:4</a:t>
            </a:r>
          </a:p>
          <a:p>
            <a:pPr lvl="2" eaLnBrk="1" hangingPunct="1"/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5.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大規模崩塌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(Large-scale Landslide):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風險判斷欄位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:Risk 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:1,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:2,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E2D3A9-C53F-1207-B67E-876091A8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花蓮縣村里人口資料</a:t>
            </a:r>
            <a:b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Population data of villages in Hualien County</a:t>
            </a:r>
            <a:endParaRPr kumimoji="1" lang="zh-TW" altLang="en-US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B687855-6637-9A72-A13A-452B5CD048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690618"/>
              </p:ext>
            </p:extLst>
          </p:nvPr>
        </p:nvGraphicFramePr>
        <p:xfrm>
          <a:off x="1611087" y="1262744"/>
          <a:ext cx="8850083" cy="5595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885">
                  <a:extLst>
                    <a:ext uri="{9D8B030D-6E8A-4147-A177-3AD203B41FA5}">
                      <a16:colId xmlns:a16="http://schemas.microsoft.com/office/drawing/2014/main" val="2352588993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4232908851"/>
                    </a:ext>
                  </a:extLst>
                </a:gridCol>
                <a:gridCol w="3222172">
                  <a:extLst>
                    <a:ext uri="{9D8B030D-6E8A-4147-A177-3AD203B41FA5}">
                      <a16:colId xmlns:a16="http://schemas.microsoft.com/office/drawing/2014/main" val="2091856414"/>
                    </a:ext>
                  </a:extLst>
                </a:gridCol>
                <a:gridCol w="1992083">
                  <a:extLst>
                    <a:ext uri="{9D8B030D-6E8A-4147-A177-3AD203B41FA5}">
                      <a16:colId xmlns:a16="http://schemas.microsoft.com/office/drawing/2014/main" val="3330813417"/>
                    </a:ext>
                  </a:extLst>
                </a:gridCol>
              </a:tblGrid>
              <a:tr h="375008">
                <a:tc>
                  <a:txBody>
                    <a:bodyPr/>
                    <a:lstStyle/>
                    <a:p>
                      <a:pPr algn="l" fontAlgn="b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COLUMN_NAME</a:t>
                      </a: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DATA_TYPE</a:t>
                      </a: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COLUMN_DESC</a:t>
                      </a: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DISPLAY_UNIT</a:t>
                      </a:r>
                    </a:p>
                  </a:txBody>
                  <a:tcPr marL="47625" marR="47625" marT="47625" marB="47625" anchor="b"/>
                </a:tc>
                <a:extLst>
                  <a:ext uri="{0D108BD9-81ED-4DB2-BD59-A6C34878D82A}">
                    <a16:rowId xmlns:a16="http://schemas.microsoft.com/office/drawing/2014/main" val="4090946566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INFO_TIME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資料時間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910100516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COUNTY_ID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縣市代碼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49057105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COUNTY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縣市名稱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31076802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TOWN_ID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鄉鎮市區代碼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486034180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TOWN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鄉鎮市區名稱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47756151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V_ID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村里代碼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86840798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VILLAGE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村里名稱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70749904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M_F_RAT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性比例</a:t>
                      </a:r>
                      <a:r>
                        <a:rPr lang="en-US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(Male/Female)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女</a:t>
                      </a:r>
                      <a:r>
                        <a:rPr lang="en-US" altLang="zh-TW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=100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54781038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P_H_CNT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戶量</a:t>
                      </a:r>
                      <a:r>
                        <a:rPr lang="en-US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(houses)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</a:t>
                      </a:r>
                      <a:r>
                        <a:rPr lang="en-US" altLang="zh-TW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戶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0795379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P_DEN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人口密度</a:t>
                      </a:r>
                      <a:r>
                        <a:rPr lang="en-US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(density)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</a:t>
                      </a:r>
                      <a:r>
                        <a:rPr lang="en-US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平方公里</a:t>
                      </a:r>
                      <a:r>
                        <a:rPr lang="en-US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p/km</a:t>
                      </a:r>
                      <a:r>
                        <a:rPr lang="en-US" altLang="zh-TW" sz="1400" baseline="300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 sz="1400" baseline="300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13377766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DEPENDENCY_RAT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扶養比 </a:t>
                      </a:r>
                      <a:r>
                        <a:rPr lang="en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Dependency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Ratio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534827037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A0A14_A15A65_RAT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扶幼比 </a:t>
                      </a:r>
                      <a:r>
                        <a:rPr lang="en" altLang="zh-TW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</a:t>
                      </a:r>
                      <a:r>
                        <a:rPr lang="en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hild dependency ratio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Ratio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90048117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A65UP_A15A64_RAT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扶老比 </a:t>
                      </a:r>
                      <a:r>
                        <a:rPr lang="en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Elderly dependency ratio</a:t>
                      </a:r>
                      <a:endParaRPr lang="zh-TW" altLang="en-US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Ratio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853576148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總人口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" sz="14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</a:t>
                      </a:r>
                      <a:endParaRPr lang="en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702166106"/>
                  </a:ext>
                </a:extLst>
              </a:tr>
              <a:tr h="348017">
                <a:tc>
                  <a:txBody>
                    <a:bodyPr/>
                    <a:lstStyle/>
                    <a:p>
                      <a:pPr fontAlgn="t"/>
                      <a:r>
                        <a:rPr lang="en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Total_65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4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老年總人口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" sz="14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</a:t>
                      </a:r>
                      <a:endParaRPr lang="en" sz="14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40177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8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EF5FD-E99F-4A4B-B520-ACD9C838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Question 1 Hazard Map</a:t>
            </a:r>
            <a:endParaRPr kumimoji="1"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3D264-A2FF-D047-8BC4-433FDE7A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469086" cy="4983162"/>
          </a:xfrm>
        </p:spPr>
        <p:txBody>
          <a:bodyPr/>
          <a:lstStyle/>
          <a:p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1.( 30%)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根據危險等級製作本地區</a:t>
            </a:r>
            <a:r>
              <a:rPr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全災害危害度等級分佈圖</a:t>
            </a:r>
            <a:endParaRPr lang="en-US" altLang="zh-TW" sz="20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57250" lvl="2" indent="0">
              <a:buNone/>
            </a:pP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Plot all hazard map in this region according to the risk level</a:t>
            </a:r>
          </a:p>
          <a:p>
            <a:pPr lvl="1"/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Hint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2"/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將每種災害的風險等級值進行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0~1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的無因次化</a:t>
            </a:r>
            <a:endParaRPr lang="en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117600" lvl="2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Normalize the risk levels of each type of disaster on a scale from 0 to 1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2"/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如果屬性資料有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null(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空值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可透過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field calculator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以下兩種方法之一，計算式取代為</a:t>
            </a:r>
            <a:r>
              <a:rPr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</a:p>
          <a:p>
            <a:pPr marL="1120775" lvl="3" indent="0">
              <a:buNone/>
            </a:pP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If the attribute data has null value, it can be replaced with 0 by the field calculator</a:t>
            </a:r>
          </a:p>
          <a:p>
            <a:pPr lvl="3"/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if("fieldname" is null, 0, "fieldname")</a:t>
            </a:r>
          </a:p>
          <a:p>
            <a:pPr lvl="3"/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coalesce(  " fieldname" ,0)</a:t>
            </a:r>
          </a:p>
          <a:p>
            <a:pPr lvl="2"/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將該縣所有災害等級加總，再等分為三等級（低、中、高），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分數介於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0-1</a:t>
            </a:r>
          </a:p>
          <a:p>
            <a:pPr marL="1120775" lvl="3" indent="0">
              <a:buNone/>
            </a:pP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All hazard levels in the area are averaged and divided into Three equal levels (low, medium, and high), with scores ranging from 0 to 1</a:t>
            </a:r>
          </a:p>
        </p:txBody>
      </p:sp>
    </p:spTree>
    <p:extLst>
      <p:ext uri="{BB962C8B-B14F-4D97-AF65-F5344CB8AC3E}">
        <p14:creationId xmlns:p14="http://schemas.microsoft.com/office/powerpoint/2010/main" val="252941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926FF-C41B-B3EA-8882-7EF6AEB92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Ans 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975D6A-2D70-ABF0-C60B-9FF9A9874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將每個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hazard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無因次化始值介於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0-1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之間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processtool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union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multiple)</a:t>
            </a: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加總災害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field calculator -&gt; 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riskfld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+…+ 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riskdebris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去除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null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coalesce(  " fieldname" ,0)</a:t>
            </a:r>
          </a:p>
          <a:p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reclassify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CASE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WHEN 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 &lt;=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+ (maximum("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-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")) * 0.2 THEN 1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WHEN 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 &lt;=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+ (maximum("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-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")) * 0.4 THEN 2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WHEN 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 &lt;=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+ (maximum("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-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")) * 0.6 THEN 3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WHEN 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 &lt;=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+ (maximum("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 - minimum("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risk_all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")) * 0.8 THEN 4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ELSE 5</a:t>
            </a:r>
          </a:p>
          <a:p>
            <a:pPr marL="400050" lvl="1" indent="0">
              <a:buNone/>
            </a:pP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END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lvl="1" indent="0">
              <a:buNone/>
            </a:pP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610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EF5FD-E99F-4A4B-B520-ACD9C838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Question 2 Plot Risk analysis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3D264-A2FF-D047-8BC4-433FDE7A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9"/>
            <a:ext cx="8229600" cy="4935661"/>
          </a:xfrm>
        </p:spPr>
        <p:txBody>
          <a:bodyPr/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2(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30% )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請依照村里人口分佈之</a:t>
            </a: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人口密度及扶老比等二項因子繪製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五等級</a:t>
            </a: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人口脆弱度圖</a:t>
            </a:r>
            <a:endParaRPr kumimoji="1" lang="en-US" altLang="zh-TW" sz="18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5725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Create a Five-Level Population Vulnerability Map Based on Population Density and Elderly Dependency Ratio</a:t>
            </a:r>
          </a:p>
          <a:p>
            <a:pPr marL="457200" lvl="1" indent="0">
              <a:buNone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Hint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由最低到最高進行等分標準化，分數介於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0-1</a:t>
            </a:r>
          </a:p>
          <a:p>
            <a:pPr marL="85725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Normalize the scores evenly from the lowest to the highest, with scores ranging from 0 to 1.</a:t>
            </a:r>
          </a:p>
          <a:p>
            <a:pPr lvl="1"/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分別求各因子分數後再平均</a:t>
            </a:r>
            <a:endParaRPr kumimoji="1"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91440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Calculate the scores for each factor separately, then take the average of the two to obtain the final vulnerability index.</a:t>
            </a: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3(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20%)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請分別以</a:t>
            </a: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人口密度及扶老比計算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各村里五等級</a:t>
            </a: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風險圖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危害度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脆弱度</a:t>
            </a:r>
            <a:r>
              <a:rPr kumimoji="1" lang="en-US" altLang="zh-TW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marL="857250" lvl="2" indent="0">
              <a:buNone/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Calculate Five-Level Risk Maps for Each Village Based on Population Density and Elderly Dependency Ratio (Hazard x Vulnerability)</a:t>
            </a:r>
          </a:p>
        </p:txBody>
      </p:sp>
    </p:spTree>
    <p:extLst>
      <p:ext uri="{BB962C8B-B14F-4D97-AF65-F5344CB8AC3E}">
        <p14:creationId xmlns:p14="http://schemas.microsoft.com/office/powerpoint/2010/main" val="135457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5B484-FC77-8E49-24AE-23808086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Ans 2-1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939E84-B887-6F02-5D25-27D999BF5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9018"/>
            <a:ext cx="5486400" cy="4525963"/>
          </a:xfrm>
        </p:spPr>
        <p:txBody>
          <a:bodyPr/>
          <a:lstStyle/>
          <a:p>
            <a:r>
              <a:rPr kumimoji="1" lang="en-US" altLang="zh-TW" sz="2800" dirty="0"/>
              <a:t>2-1</a:t>
            </a:r>
          </a:p>
          <a:p>
            <a:pPr lvl="1"/>
            <a:r>
              <a:rPr kumimoji="1" lang="en-US" altLang="zh-TW" sz="1800" dirty="0"/>
              <a:t>Field calculator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CASE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  WHEN "P_DEN" &lt;= minimum("P_DEN") + (maximum("P_DEN") - minimum("P_DEN")) * 0.2 THEN 1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  WHEN "P_DEN" &lt;= minimum("P_DEN") + (maximum("P_DEN") - minimum("P_DEN")) * 0.4 THEN 2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  WHEN "P_DEN" &lt;= minimum("P_DEN") + (maximum("P_DEN") - minimum("P_DEN")) * 0.6 THEN 3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  WHEN "P_DEN" &lt;= minimum("P_DEN") + (maximum("P_DEN") - minimum("P_DEN")) * 0.8 THEN 4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  ELSE 5</a:t>
            </a:r>
          </a:p>
          <a:p>
            <a:pPr marL="857250" lvl="2" indent="0">
              <a:buNone/>
            </a:pPr>
            <a:r>
              <a:rPr kumimoji="1" lang="en" altLang="zh-TW" sz="1400" dirty="0">
                <a:solidFill>
                  <a:schemeClr val="accent6">
                    <a:lumMod val="75000"/>
                  </a:schemeClr>
                </a:solidFill>
              </a:rPr>
              <a:t>END</a:t>
            </a:r>
            <a:endParaRPr kumimoji="1" lang="zh-TW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6D9B420-886C-EDE5-413F-18EA93D72847}"/>
              </a:ext>
            </a:extLst>
          </p:cNvPr>
          <p:cNvSpPr txBox="1"/>
          <p:nvPr/>
        </p:nvSpPr>
        <p:spPr>
          <a:xfrm>
            <a:off x="6451600" y="1946156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CASE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  WHEN "A65UP_A15A" &lt;= minimum("A65UP_A15A") + (maximum("A65UP_A15A") - minimum("A65UP_A15A")) * 0.2 THEN 1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  WHEN "A65UP_A15A" &lt;= minimum("A65UP_A15A") + (maximum("A65UP_A15A") - minimum("A65UP_A15A")) * 0.4 THEN 2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  WHEN "A65UP_A15A" &lt;= minimum("A65UP_A15A") + (maximum("A65UP_A15A") - minimum("A65UP_A15A")) * 0.6 THEN 3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  WHEN "A65UP_A15A" &lt;= minimum("A65UP_A15A") + (maximum("A65UP_A15A") - minimum("A65UP_A15A")) * 0.8 THEN 4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  ELSE 5</a:t>
            </a:r>
          </a:p>
          <a:p>
            <a:r>
              <a:rPr lang="zh-TW" altLang="en-US" sz="1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END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195493-02D2-2838-2390-B95295DBC6E2}"/>
              </a:ext>
            </a:extLst>
          </p:cNvPr>
          <p:cNvSpPr txBox="1"/>
          <p:nvPr/>
        </p:nvSpPr>
        <p:spPr>
          <a:xfrm>
            <a:off x="3225800" y="4476748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400">
                <a:latin typeface="+mn-lt"/>
                <a:ea typeface="+mn-ea"/>
              </a:defRPr>
            </a:lvl1pPr>
          </a:lstStyle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CASE</a:t>
            </a: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 WHEN "Vul_avg" &lt;= minimum("Vul_avg") + (maximum("Vul_avg") - minimum("Vul_avg")) * 0.2 THEN 1</a:t>
            </a: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 WHEN "Vul_avg" &lt;= minimum("Vul_avg") + (maximum("Vul_avg") - minimum("Vul_avg")) * 0.4 THEN 2</a:t>
            </a: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 WHEN "Vul_avg" &lt;= minimum("Vul_avg") + (maximum("Vul_avg") - minimum("Vul_avg")) * 0.6 THEN 3</a:t>
            </a: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 WHEN "Vul_avg" &lt;= minimum("Vul_avg") + (maximum("Vul_avg") - minimum("Vul_avg")) * 0.8 THEN 4</a:t>
            </a: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  ELSE 5</a:t>
            </a:r>
          </a:p>
          <a:p>
            <a:r>
              <a:rPr lang="zh-TW" altLang="en-US" dirty="0">
                <a:solidFill>
                  <a:schemeClr val="tx2">
                    <a:lumMod val="75000"/>
                  </a:schemeClr>
                </a:solidFill>
              </a:rPr>
              <a:t>END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933625-C368-0F36-D83C-78F07AEFA873}"/>
              </a:ext>
            </a:extLst>
          </p:cNvPr>
          <p:cNvSpPr txBox="1"/>
          <p:nvPr/>
        </p:nvSpPr>
        <p:spPr>
          <a:xfrm>
            <a:off x="2495550" y="1524319"/>
            <a:ext cx="628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hangingPunct="0">
              <a:spcBef>
                <a:spcPct val="20000"/>
              </a:spcBef>
            </a:pPr>
            <a:r>
              <a:rPr lang="zh-TW" altLang="en-US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</a:rPr>
              <a:t>Vul_avg</a:t>
            </a:r>
            <a:r>
              <a:rPr lang="en-US" altLang="zh-TW" dirty="0">
                <a:latin typeface="+mn-lt"/>
                <a:ea typeface="+mn-ea"/>
              </a:rPr>
              <a:t> =  </a:t>
            </a:r>
            <a:r>
              <a:rPr lang="zh-TW" altLang="en-US" dirty="0">
                <a:latin typeface="+mn-lt"/>
                <a:ea typeface="+mn-ea"/>
              </a:rPr>
              <a:t>(  "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Vul_P_DEN</a:t>
            </a:r>
            <a:r>
              <a:rPr lang="zh-TW" altLang="en-US" dirty="0">
                <a:latin typeface="+mn-lt"/>
                <a:ea typeface="+mn-ea"/>
              </a:rPr>
              <a:t>" + "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Vul_A65UP</a:t>
            </a:r>
            <a:r>
              <a:rPr lang="zh-TW" altLang="en-US" dirty="0">
                <a:latin typeface="+mn-lt"/>
                <a:ea typeface="+mn-ea"/>
              </a:rPr>
              <a:t>" )/2</a:t>
            </a:r>
          </a:p>
        </p:txBody>
      </p:sp>
    </p:spTree>
    <p:extLst>
      <p:ext uri="{BB962C8B-B14F-4D97-AF65-F5344CB8AC3E}">
        <p14:creationId xmlns:p14="http://schemas.microsoft.com/office/powerpoint/2010/main" val="402846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38EFC-FAE7-089C-0360-2E0A730F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Ans 2-2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6E3DB6-7156-C48E-2111-AD299240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以下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種方法擇一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00050" lvl="1" indent="0">
              <a:buNone/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Union</a:t>
            </a:r>
          </a:p>
          <a:p>
            <a:pPr marL="400050" lvl="1" indent="0">
              <a:buNone/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Intersection</a:t>
            </a:r>
          </a:p>
          <a:p>
            <a:pPr marL="400050" lvl="1" indent="0">
              <a:buNone/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Join attributes by location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704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EF5FD-E99F-4A4B-B520-ACD9C838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Question 3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預警性疏散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3D264-A2FF-D047-8BC4-433FDE7A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7178" y="1417639"/>
            <a:ext cx="8303623" cy="4525963"/>
          </a:xfrm>
        </p:spPr>
        <p:txBody>
          <a:bodyPr/>
          <a:lstStyle/>
          <a:p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4(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 )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請評估馬太鞍溪堰塞湖預警疏散範圍內預計有多少人需要進行疏散？其中包含多少老年人口？</a:t>
            </a:r>
            <a:endParaRPr kumimoji="1"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58825" lvl="1" indent="0">
              <a:buNone/>
            </a:pP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Please estimate how many people are expected to be evacuated within the </a:t>
            </a:r>
            <a:r>
              <a:rPr kumimoji="1" lang="en-US" altLang="zh-TW" sz="1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Matainan</a:t>
            </a: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Creek landslide-dammed lake warning and evacuation area. How many of them are elderly?</a:t>
            </a:r>
          </a:p>
          <a:p>
            <a:pPr marL="758825" lvl="1" indent="0">
              <a:buNone/>
            </a:pP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假設：人口平均分布在村里範圍內</a:t>
            </a:r>
            <a:endParaRPr kumimoji="1"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58825" lvl="1" indent="0">
              <a:buNone/>
            </a:pP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Assumption: The population is evenly distributed within the village boundaries.</a:t>
            </a:r>
          </a:p>
        </p:txBody>
      </p:sp>
    </p:spTree>
    <p:extLst>
      <p:ext uri="{BB962C8B-B14F-4D97-AF65-F5344CB8AC3E}">
        <p14:creationId xmlns:p14="http://schemas.microsoft.com/office/powerpoint/2010/main" val="380297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518AB-53A2-5170-34F9-3F1E1782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Ans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2824B0-0B08-FFB5-63BF-E85BCB2A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Intersection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撤離疏散範圍 ＋人口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Field calculator </a:t>
            </a: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Area = $area /10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平方公里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Pop = P_DEN * area</a:t>
            </a: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pop *  total_65/total</a:t>
            </a:r>
          </a:p>
          <a:p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049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1DCAF-C628-9A65-3F93-4973EE452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437418" cy="1143000"/>
          </a:xfrm>
        </p:spPr>
        <p:txBody>
          <a:bodyPr/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加分題：省道災害熱點與人口影響分析</a:t>
            </a:r>
            <a:b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Provincial Highway Disaster Hotspot and Population Impact Analysis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A7236E-29C2-F444-733B-3147D3943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標準系統字體"/>
              <a:buChar char="﹣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建立每條省道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公尺緩衝區（可依照省道編號）。</a:t>
            </a:r>
          </a:p>
          <a:p>
            <a:pPr marL="355600" indent="0">
              <a:buNone/>
            </a:pPr>
            <a:r>
              <a:rPr lang="en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Create a 500-meter buffer for each provincial highway (based on the highway code if applicable).</a:t>
            </a:r>
          </a:p>
          <a:p>
            <a:pPr marL="0" indent="0">
              <a:buNone/>
            </a:pPr>
            <a:endParaRPr lang="en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標準系統字體"/>
              <a:buChar char="﹣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統計各緩衝區內的災點數量，計算「每公里災點密度」。</a:t>
            </a:r>
          </a:p>
          <a:p>
            <a:pPr marL="355600" indent="0">
              <a:buNone/>
            </a:pPr>
            <a:r>
              <a:rPr lang="en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Count the number of disaster points within each buffer and calculate the “number of disaster points per kilometer” (disaster density).</a:t>
            </a:r>
          </a:p>
          <a:p>
            <a:pPr>
              <a:buFont typeface="標準系統字體"/>
              <a:buChar char="﹣"/>
            </a:pPr>
            <a:endParaRPr lang="en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標準系統字體"/>
              <a:buChar char="﹣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將災點密度最高的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條省道以紅色高亮顯示。</a:t>
            </a:r>
          </a:p>
          <a:p>
            <a:pPr marL="319088" indent="0">
              <a:buNone/>
            </a:pPr>
            <a:r>
              <a:rPr lang="en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Highlight the three provincial highways with the highest disaster density in red.</a:t>
            </a:r>
          </a:p>
          <a:p>
            <a:pPr>
              <a:buFont typeface="標準系統字體"/>
              <a:buChar char="﹣"/>
            </a:pPr>
            <a:endParaRPr lang="en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標準系統字體"/>
              <a:buChar char="﹣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疊合村里人口資料，估算位於第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高災害路段緩衝區內的總人口與老年人口。</a:t>
            </a:r>
          </a:p>
          <a:p>
            <a:pPr marL="319088" indent="0">
              <a:buNone/>
            </a:pPr>
            <a:r>
              <a:rPr lang="en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Overlay the village population data and estimate the total population and elderly population located within the highest-risk highway buffer zones.</a:t>
            </a:r>
            <a:endParaRPr kumimoji="1" lang="zh-TW" alt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050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C7202-A7BC-810F-6976-AD17FD35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Ans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加分題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801C75-19D5-F865-3D85-21C001C2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Buffer 500m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Join attributes by location (summary) </a:t>
            </a: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Count(fid)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Field calculator count / length(km)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Intersection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村里人口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Field calculator </a:t>
            </a: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Area = $area /10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平方公里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Pop = P_DEN * area</a:t>
            </a: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pop *  total_65/total</a:t>
            </a:r>
          </a:p>
          <a:p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8533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7F0AB-F3C8-E209-FB6D-2196B51D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ED5A7D-8D05-B786-660C-2BAD5857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請將訂正後結果於</a:t>
            </a:r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11/3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前上傳至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cool</a:t>
            </a: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期中考將以</a:t>
            </a:r>
            <a:r>
              <a:rPr kumimoji="1" lang="zh-TW" altLang="en-US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兩次分數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平均計算</a:t>
            </a:r>
          </a:p>
        </p:txBody>
      </p:sp>
    </p:spTree>
    <p:extLst>
      <p:ext uri="{BB962C8B-B14F-4D97-AF65-F5344CB8AC3E}">
        <p14:creationId xmlns:p14="http://schemas.microsoft.com/office/powerpoint/2010/main" val="326691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1917</Words>
  <Application>Microsoft Office PowerPoint</Application>
  <PresentationFormat>寬螢幕</PresentationFormat>
  <Paragraphs>194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Microsoft JhengHei</vt:lpstr>
      <vt:lpstr>標準系統字體</vt:lpstr>
      <vt:lpstr>Arial</vt:lpstr>
      <vt:lpstr>Calibri</vt:lpstr>
      <vt:lpstr>Office 佈景主題</vt:lpstr>
      <vt:lpstr>Attention</vt:lpstr>
      <vt:lpstr>花蓮地區多重災害風險分析 Multi-Risk Analysis in Hualien Area </vt:lpstr>
      <vt:lpstr>Data Sets:</vt:lpstr>
      <vt:lpstr>花蓮縣村里人口資料 Population data of villages in Hualien County</vt:lpstr>
      <vt:lpstr>Question 1 Hazard Map</vt:lpstr>
      <vt:lpstr>Ans 1</vt:lpstr>
      <vt:lpstr>Question 2 Plot Risk analysis</vt:lpstr>
      <vt:lpstr>Ans 2-1</vt:lpstr>
      <vt:lpstr>Ans 2-2</vt:lpstr>
      <vt:lpstr>Question 3 預警性疏散</vt:lpstr>
      <vt:lpstr>Ans 3</vt:lpstr>
      <vt:lpstr>加分題：省道災害熱點與人口影響分析 Provincial Highway Disaster Hotspot and Population Impact Analysis</vt:lpstr>
      <vt:lpstr>Ans 加分題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災害潛勢分析</dc:title>
  <dc:creator>wrsu</dc:creator>
  <cp:lastModifiedBy>葛復光 Frank</cp:lastModifiedBy>
  <cp:revision>3</cp:revision>
  <dcterms:created xsi:type="dcterms:W3CDTF">2009-12-08T06:17:33Z</dcterms:created>
  <dcterms:modified xsi:type="dcterms:W3CDTF">2025-10-30T11:05:22Z</dcterms:modified>
</cp:coreProperties>
</file>